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AI NETWORK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63FF"/>
                </a:solidFill>
                <a:latin typeface="Segoe UI"/>
              </a:defRPr>
            </a:pPr>
            <a:r>
              <a:t>An AI-Assisted TCP/IP Network Diagnosis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3790" y="3840480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8"/>
                </a:solidFill>
                <a:latin typeface="Segoe UI"/>
              </a:defRPr>
            </a:pPr>
            <a:r>
              <a:t>Hamide Sila AKDAN  &amp;  Bekir Sadik ALTUNKAYA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Mobile Technologies —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2011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Segoe UI"/>
              </a:defRPr>
            </a:pPr>
            <a:r>
              <a:t>Unknown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Who is connected to my network? Is someone unauthorized?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291840" cy="2011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Segoe UI"/>
              </a:defRPr>
            </a:pPr>
            <a:r>
              <a:t>Website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Is this website safe? Is it a phishing or scam page?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91840" cy="2011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Segoe UI"/>
              </a:defRPr>
            </a:pPr>
            <a:r>
              <a:t>Performance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Why is my internet slow? What is causing lag?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93D"/>
                </a:solidFill>
                <a:latin typeface="Segoe UI"/>
              </a:defRPr>
            </a:pPr>
            <a:r>
              <a:t>Existing tools give raw, technical outputs that non-expert users cannot interpret.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AI Network Guardian transforms raw network data into clear, actionable diagnostics that anyone can understand.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Every diagnosis includes: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   TCP/IP Layer mapping — which layer is responsible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   Confidence score — how certain the system is (0-100%)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   Supporting evidence — specific data points from measurements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   Plain-English explanation — no jargon, no black boxes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   Actionable recommendation — what to do about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3200400" cy="6400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8FA8"/>
                </a:solidFill>
                <a:latin typeface="Segoe UI"/>
              </a:defRPr>
            </a:pPr>
            <a:r>
              <a:t>User /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3200400" cy="6400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Flask 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31920"/>
            <a:ext cx="3200400" cy="6400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0233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Analysis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3200400" cy="6400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9377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AI Reasoning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760720"/>
            <a:ext cx="3200400" cy="6400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8521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SQLite Time-Series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5303520" cy="4297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Segoe UI"/>
              </a:defRPr>
            </a:pPr>
            <a:r>
              <a:t>Three Analysis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Network Detective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L1/L2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ARP, MAC, Ping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Security Hunter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L7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HTTPS Certs, WHOIS, Phishing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Performance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L3/L4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TCP Latency, Connections, DNS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Connection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94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L1-L4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TCP Handshake Layer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TCP/IP Layer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60FF"/>
                </a:solidFill>
                <a:latin typeface="Segoe UI"/>
              </a:defRPr>
            </a:pPr>
            <a:r>
              <a:t>Application (L7)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402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HTTP, HTTPS, DNS, WHOIS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2402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Security Hunter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79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Transport (L4)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91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TCP, UDP — ports,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918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Performance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Network (L3)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IP, ICMP — routing,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Performance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Data Link (L2)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Ethernet, ARP, MAC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Network Detective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Reasoning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029200" cy="36576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Primary: Google Gemini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Plain HTTP REST API (no SDK dependency)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Flash-first, auto-fallback to Pro on rate limit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Structured system prompt with TCP/IP context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Institutional domain awareness (.edu, .gov)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Phishing infrastructure pattern detection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Human-readable Website Overview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36576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Segoe UI"/>
              </a:defRPr>
            </a:pPr>
            <a:r>
              <a:t>Fallback: Rule-Based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Deterministic rules when API is unavailable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Same Diagnosis dataclass output format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Threshold-based severity classification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Zero external dependencies for offline use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Consistent UX regardless of AI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Both engines produce identical output structure — the UI never knows which one 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Module 1: Network Detective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FA8"/>
                </a:solidFill>
                <a:latin typeface="Segoe UI"/>
              </a:defRPr>
            </a:pPr>
            <a:r>
              <a:t>Layer 1/2 — ARP, MAC, ICMP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How it works: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1. Reads ARP table to discover local devices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2. Pings each device to verify responsiveness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3. Looks up MAC OUI prefix for vendor identification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4. Detects randomized/private MACs (iOS/Android)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5. Identifies gateway and network topology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AI analyzes the scan for: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Unknown/unauthorized devices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Non-responsive hosts (firewalled)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Abnormal device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Key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Address Resolution Protocol — maps IP to MAC at 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ICMP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Ping sweep — verifies host reachability at 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MAC 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First 3 bytes identify the hardware manufacturer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Module 2: Security Hunter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FA8"/>
                </a:solidFill>
                <a:latin typeface="Segoe UI"/>
              </a:defRPr>
            </a:pPr>
            <a:r>
              <a:t>Layer 7 — HTTPS, SSL/TLS, WHOIS,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Multi-signal phishing detection: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SSL certificate validation &amp; metadata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WHOIS domain registration analysis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TLS version analysis (1.2 vs 1.3)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Wildcard &amp; multi-domain cert detection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Government impersonation detection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Scam bait keyword analysis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Institutional domain trust (.edu, .gov)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Scoring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1700" b="0">
                <a:solidFill>
                  <a:srgbClr val="FF4D6A"/>
                </a:solidFill>
                <a:latin typeface="Segoe UI"/>
              </a:defRPr>
            </a:pPr>
            <a:r>
              <a:t>Risk signals add points (0-100)</a:t>
            </a:r>
          </a:p>
          <a:p>
            <a:pPr>
              <a:spcBef>
                <a:spcPts val="600"/>
              </a:spcBef>
              <a:defRPr sz="1700" b="0">
                <a:solidFill>
                  <a:srgbClr val="00E676"/>
                </a:solidFill>
                <a:latin typeface="Segoe UI"/>
              </a:defRPr>
            </a:pPr>
            <a:r>
              <a:t>Trust signals subtract points</a:t>
            </a:r>
          </a:p>
          <a:p>
            <a:pPr>
              <a:spcBef>
                <a:spcPts val="600"/>
              </a:spcBef>
              <a:defRPr sz="1700" b="0">
                <a:solidFill>
                  <a:srgbClr val="FFD93D"/>
                </a:solidFill>
                <a:latin typeface="Segoe UI"/>
              </a:defRPr>
            </a:pPr>
            <a:r>
              <a:t>Trust capped at 50% of risk</a:t>
            </a:r>
          </a:p>
          <a:p>
            <a:pPr>
              <a:spcBef>
                <a:spcPts val="600"/>
              </a:spcBef>
              <a:defRPr sz="1400" b="0">
                <a:solidFill>
                  <a:srgbClr val="8B8FA8"/>
                </a:solidFill>
                <a:latin typeface="Segoe UI"/>
              </a:defRPr>
            </a:pPr>
            <a:r>
              <a:t>(prevents false negatives)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00E676"/>
                </a:solidFill>
                <a:latin typeface="Segoe UI"/>
              </a:defRPr>
            </a:pPr>
            <a:r>
              <a:t>0-30:  SAFE</a:t>
            </a:r>
          </a:p>
          <a:p>
            <a:pPr>
              <a:spcBef>
                <a:spcPts val="600"/>
              </a:spcBef>
              <a:defRPr sz="1700" b="0">
                <a:solidFill>
                  <a:srgbClr val="FFD93D"/>
                </a:solidFill>
                <a:latin typeface="Segoe UI"/>
              </a:defRPr>
            </a:pPr>
            <a:r>
              <a:t>31-60: CAUTION</a:t>
            </a:r>
          </a:p>
          <a:p>
            <a:pPr>
              <a:spcBef>
                <a:spcPts val="600"/>
              </a:spcBef>
              <a:defRPr sz="1700" b="0">
                <a:solidFill>
                  <a:srgbClr val="FF4D6A"/>
                </a:solidFill>
                <a:latin typeface="Segoe UI"/>
              </a:defRPr>
            </a:pPr>
            <a:r>
              <a:t>61-100: DANGEROUS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Hunter: Real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9144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google.com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2/100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Premium CA, 28yr domain, valid cert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515600" cy="9144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gtu.edu.tr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8/100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TUBITAK gov CA, institutional .edu.tr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79"/>
            <a:ext cx="10515600" cy="9144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phishing.filterdns.net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6A"/>
                </a:solidFill>
                <a:latin typeface="Segoe UI"/>
              </a:defRPr>
            </a:pPr>
            <a:r>
              <a:t>70/100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3891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High-threat keyword, wildcard + free CA, subdomain impersonation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515600" cy="9144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86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govfreephone.us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4863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6A"/>
                </a:solidFill>
                <a:latin typeface="Segoe UI"/>
              </a:defRPr>
            </a:pPr>
            <a:r>
              <a:t>80/100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4863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521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Gov impersonation, scam bait, multi-domain cert, phishing infra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Module 3: Performance &amp; Lag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FA8"/>
                </a:solidFill>
                <a:latin typeface="Segoe UI"/>
              </a:defRPr>
            </a:pPr>
            <a:r>
              <a:t>Layer 3/4 — IP, TCP, UDP, ICMP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Measurements: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TCP connection latency (min/avg/max)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Packet loss percentage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Jitter (latency variance)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Active TCP/UDP connection states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DNS resolution time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Top remote hosts by connection count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E676"/>
                </a:solidFill>
                <a:latin typeface="Segoe UI"/>
              </a:defRPr>
            </a:pPr>
            <a:r>
              <a:t>No ICMP / no root required</a:t>
            </a:r>
          </a:p>
          <a:p>
            <a:pPr>
              <a:spcBef>
                <a:spcPts val="600"/>
              </a:spcBef>
              <a:defRPr sz="1600" b="0">
                <a:solidFill>
                  <a:srgbClr val="8B8FA8"/>
                </a:solidFill>
                <a:latin typeface="Segoe UI"/>
              </a:defRPr>
            </a:pPr>
            <a:r>
              <a:t>Uses TCP SYN handshake for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AI Diagnoses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Elevated latency → cause analysis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Packet loss → severity assessment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High jitter → VoIP/gaming impact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Connection count → resource usage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DNS failure → resolution troubleshooting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8B8FA8"/>
                </a:solidFill>
                <a:latin typeface="Segoe UI"/>
              </a:defRPr>
            </a:pPr>
            <a:r>
              <a:t>Each mapped to responsible TCP/IP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Module 4: Connection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FA8"/>
                </a:solidFill>
                <a:latin typeface="Segoe UI"/>
              </a:defRPr>
            </a:pPr>
            <a:r>
              <a:t>Layer 1-4 — Full Stack TCP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SYN-ACK received, port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L1-L4 all functional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79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TCP RST received, port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L1-L3 OK, L4 closed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A"/>
                </a:solidFill>
                <a:latin typeface="Segoe UI"/>
              </a:defRPr>
            </a:pPr>
            <a:r>
              <a:t>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97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No response, firewall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976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L4 filtered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A"/>
                </a:solidFill>
                <a:latin typeface="Segoe UI"/>
              </a:defRPr>
            </a:pPr>
            <a:r>
              <a:t>UNREACHABLE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No route to host, L3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L2/L3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  <a:latin typeface="Segoe UI"/>
              </a:defRPr>
            </a:pPr>
            <a:r>
              <a:t>Each status maps to a specific layer failure — the AI explains what went wrong and how to fix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Time-Series Data &amp;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SQLite with WAL mode for concurrent reads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Every scan result is persisted with: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 Module identifier (detective, security, performance, connection)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 Unix timestamp for time-series ordering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 Raw measurement data (JSON)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   AI-generated diagnoses (JSON)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6C63FF"/>
                </a:solidFill>
                <a:latin typeface="Segoe UI"/>
              </a:defRPr>
            </a:pPr>
            <a:r>
              <a:t>API Endpoints:</a:t>
            </a:r>
          </a:p>
          <a:p>
            <a:pPr>
              <a:spcBef>
                <a:spcPts val="600"/>
              </a:spcBef>
              <a:defRPr sz="1700" b="0">
                <a:solidFill>
                  <a:srgbClr val="00D4FF"/>
                </a:solidFill>
                <a:latin typeface="Segoe UI"/>
              </a:defRPr>
            </a:pPr>
            <a:r>
              <a:t>   GET /api/history/&lt;module&gt; — recent scan results</a:t>
            </a:r>
          </a:p>
          <a:p>
            <a:pPr>
              <a:spcBef>
                <a:spcPts val="600"/>
              </a:spcBef>
              <a:defRPr sz="1700" b="0">
                <a:solidFill>
                  <a:srgbClr val="00D4FF"/>
                </a:solidFill>
                <a:latin typeface="Segoe UI"/>
              </a:defRPr>
            </a:pPr>
            <a:r>
              <a:t>   GET /api/trend/&lt;module&gt;?hours=24 — time-windowed data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D93D"/>
                </a:solidFill>
                <a:latin typeface="Segoe UI"/>
              </a:defRPr>
            </a:pPr>
            <a:r>
              <a:t>Purpose: Distinguish temporary anomalies from persistent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Python 3 +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REST API, routing, module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6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Google Gemini 2.5 (Flash/Pro)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Plain HTTP REST, no SDK, auto-fallback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SQLite + 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Time-series storage, indexed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Vanilla HTML/CSS/JS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Dark theme, tab-based SPA, no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python-whois, ssl, 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Certificate parsing, WHOIS lookup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0515600" cy="59436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852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arp, netstat, socket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8521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  <a:latin typeface="Segoe UI"/>
              </a:defRPr>
            </a:pPr>
            <a:r>
              <a:t>ARP table, connections, TCP probes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C63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3790" y="3474720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http://127.0.0.1:5001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FA8"/>
                </a:solidFill>
                <a:latin typeface="Segoe UI"/>
              </a:defRPr>
            </a:pPr>
            <a:r>
              <a:t>Network Scan  |  Security Analysis  |  Performance Diagnostics  |  Connection 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Three integrated modules covering all TCP/IP layers (L2-L7)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AI-powered diagnostics with Gemini 2.5 + deterministic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Every diagnosis: layer-mapped, confidence-scored, evidence-backed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Advanced phishing detection: gov impersonation, scam bait, multi-domain certs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Institutional domain awareness: .edu, .gov, government 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Time-series persistence for anomaly vs. persistent issue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No root/admin privileges required — runs on any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23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Clean, accessible dark-theme UI for non-technical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Segoe U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